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Establishes time expectations and signals which audiences should focus on which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in the audience's language. Make it specific. Q: 'Hasn't this always been a problem?' A: 'Yes — what changed is {{trigger event}}.'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ROI Calculator output to populate. Anchor on concrete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specific people by role. Q: 'Why haven't they fixed it themselves?' A: 'They've tried — see appendix slide 22.'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Phased approach helps de-risk. Q: 'Why can't we go straight to auto?' A: 'Because we'd lose the ability to catch errors before they reach customers.'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plain language. The CFO doesn't need to understand the LLM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savings to a customer outcome where possible. CFOs find that compelling.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these numbers from the ROI Calculator. Anchor on payback period — it's the number CFOs internalise.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'but what if' questions. Q: 'These assumptions seem optimistic.' A: 'Sensitivity table — even under conservative assumptions, payback &lt; {{X}} months.'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Substitute with a real reference. Aiprosol provides case studies for Legal/RealEstate/Manufacturing.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case study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case study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realistic pacing. Q: 'Can you do it in 30 days?' A: 'We can build the workflow in 14 days. The remaining 76 are about adoption and confidence.'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Named people &gt; 'a team will'. Forces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pretend risks don't exist. Stating them + mitigations builds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'why this tool' question. Q: 'Why not Microsoft / our existing vendor?' A: '{{specific rationale}}'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'What about our data going to OpenAI?' A: '{{Specific PII redaction approach}}'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undersell. The first automation is just the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explicit. Don't make them guess what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8B5CF6"/>
                </a:solidFill>
              </a:rPr>
              <a:t>Automating {{Process 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B7585"/>
                </a:solidFill>
              </a:rPr>
              <a:t>${{Annual Savings}} reclaimed · {{Payback}}-month payback · {{Hours}} hrs/yr freed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585"/>
                </a:solidFill>
              </a:rPr>
              <a:t>Prepared for {{Audience}} ·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1. The problem we're solving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2. Current cost of inaction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3. Proposed approach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4. Projected savings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5. Payback + risk analysis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6. Implementation plan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7.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{{1-sentence problem statement}}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Who feels it: {{Persona affected}}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How often: {{Frequency}}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Hidden cost: {{Cost they don't notice}}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Why now: {{Trigger event making this urgent}}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Current state —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Where the money is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Manual time per transaction: {{minutes}} min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Transactions per month: {{count}}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Monthly hours consumed: {{hours}}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Annual cost (loaded): ${{annual_cost}}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issues observed: {{count}}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Who feels it the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{{Team A}}: {{specific pain}}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{{Team B}}: {{specific pain}}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{{Customer impact}}: {{description}}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{{Internal impact on hiring/retention}}: {{description}}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Proposed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1 (weeks 1-2): {{Step}}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2 (weeks 3-6): {{Step}}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Phase 3 (weeks 7-12): {{Step}}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Human-in-the-loop until quality is proven (Phase 1 = AI-as-suggestion)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Move to auto-action only with {{measurable confidence threshold}}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How it works (1-min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Input: {{What triggers the automation}}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Step 1: {{First processing step}}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Step 2: {{Second step}}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Step 3: {{Decision or output}}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Output: {{What the user sees}}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Fallback: {{What happens if it fails}}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Projected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Year 1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Hours saved / year: {{hours}}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Direct cost savings: ${{savings}}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improvement: {{quantified outcome}}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Capacity unlocked: {{what people can do instead}}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Customer outcome: {{what improves for them}}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Payback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One-time implementation cost: ${{implementation_cost}}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Monthly maintenance: ${{maintenance}}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Monthly net savings: ${{net_savings}}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Payback period: {{months}} months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12-month ROI multiple: {{multiple}}x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What if our assumptions are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If volume is 50% lower: payback = {{X}} months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If quality regression hurts customers: cost = ${{Y}}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If labour costs change: net savings = ${{Z}}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If implementation overruns 50%: payback = {{X}}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Case study — {{Industry}}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How {{Similar Company}} did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Problem: {{their problem}}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Approach: {{what they did}}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Result: {{their numbers}}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Quote: '{{quote from their team}}'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Case study — {{Industry 2}}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Problem: {{their problem}}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Result: {{their numbers}}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Case study — {{Industry 3}}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Problem: {{their problem}}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Result: {{their numbers}}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Implementation plan —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Days 1-7: Alignment + tooling setup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Days 8-21: Build with humans-in-the-loop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Days 22-49: Pilot in one team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Days 50-90: Scale to {{N}} teams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Day 90: Quarterly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Team +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Executive sponsor: {{Name}}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Project lead: {{Name}}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Domain expert: {{Name}}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Technical lead: {{Name}} (or vendor)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Change champion: {{Name}}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The 5 things that could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regression — mitigation: HITL phase 1-2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Adoption resistance — mitigation: champion + visible wins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Cost overrun — mitigation: weekly cost monitoring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Integration breakage — mitigation: monitoring + dead letter queue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Vendor lock-in — mitigation: exit plan defined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Vendor + tooling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AI model: {{OpenAI / Claude / open-source}} (rationale: {{...}})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Workflow engine: {{n8n / Zapier / Make}}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CRM integration: {{HubSpot / Salesforce / ...}}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Monitoring: {{tool}}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Build vs buy: {{decision + rationale}}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Security +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Data handling: {{encryption, residency, retention}}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Access control: {{who can see what}}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Audit trail: {{retention period}}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Compliance: {{GDPR / SOC 2 / industry-specific}}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Incident response: {{plan in place}}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Quality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How we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Leading metric 1: {{e.g., time saved per transaction}}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Leading metric 2: {{e.g., adoption %}}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Lagging metric: {{e.g., customer NPS in {{period}}}}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Quality bar: {{specific accuracy threshold}}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Review cadence: {{weekly/monthly}}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Year 2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What this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Capacity for {{strategic project that was off the table}}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Insights from {{data we'll have that we don't today}}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Capability for {{new offering / market}}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Foundation for {{next 10 automations}}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Budget: ${{amount}} for {{period}}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Headcount: {{people}} for {{period}}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Decision: {{specific yes/no question}}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Timeline: {{when}}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Sponsor: {{role}} as executive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Week 1: {{action with owner}}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Week 2: {{action with owner}}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Week 4: {{milestone}}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Week 12: {{first measurable outcome}}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Appendix · Full ROI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All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Inputs sheet (from ROI Calculator)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12-month cash flow projection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Sensitivity table — best / base / worst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Comparison vs alternative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Appendix · Why we haven't fixed this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Previous attempt 1: {{what we tried, what went wrong}}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Previous attempt 2: {{what we tried, what went wrong}}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What's different now: {{AI capability that wasn't there 18 months ago}}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What we learned: {{insights from previous attempts}}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Appendix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Case studies from Aiprosol (aiprosol.com/case-studies)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Vendor security documentation (SOC 2, GDPR)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Internal champion contacts willing to talk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Industry benchmarks ({{source}})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Appendix ·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HITL = Human-in-the-loop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LLM = Large Language Model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RAG = Retrieval-Augmented Generation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TTV = Time to Value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NPV = Net Present Value (discounted future cash 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B5CF6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585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{{Your Name}}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{{Your Email}}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{{Your Phone}}</a:t>
            </a:r>
          </a:p>
          <a:p>
            <a:pPr>
              <a:spcAft>
                <a:spcPts val="600"/>
              </a:spcAft>
              <a:defRPr sz="1800">
                <a:solidFill>
                  <a:srgbClr val="1F1B2E"/>
                </a:solidFill>
                <a:latin typeface="Calibri"/>
              </a:defRPr>
            </a:pPr>
            <a:r>
              <a:t>• {{Your Company}}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585"/>
                </a:solidFill>
              </a:rPr>
              <a:t>{{Your Company}} · Automation ROI Pitch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