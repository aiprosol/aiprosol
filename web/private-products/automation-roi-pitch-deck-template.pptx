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 in human terms before the numbers. The room is here for an answer to "what is automation actually worth to us." Pace: 30s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single number. Do not soften it. Pause for 5 seconds after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each placeholder with your audited number. If you don't have audited numbers, run the Aiprosol ROI Audit at aiprosol.com/roi-audit (free, 60 seconds) for an honest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specific about the multiplier. If headcount is doubling, manual-work overhead 3-4×s, not 2×s.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3 processes from your Business Process Audit Checklist (§9 prioritisation matrix). If you don't have the audit, do that first — it's £37 at aiprosol.com/products/business-process-audit-checklist.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Demystify. Many decision-makers think "AI" implies opacity. Show that automation is plain old systems thinking with smarter middleware.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competitive-cost framing is the most important. If your competitors are running automation and you aren't, you are losing on operating leverage every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objections. Decisions that get pushed are decisions that fall apart in the room. Read the room — only deliver this slide if the audience is sceptical.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middle option as recommended. Anchor pricing on the cheapest (Self-serve) and the most expensive isn't shown — pull Enterprise into a separate slide if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the year 1 cash flow chart here. The ROI Calculator (sheet "Sensitivity" / "Scenario comparison") generates the figures. Keep one chart per slide. Talk to the curve, not the numbers — the numbers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the break-even analysis chart here. The ROI Calculator (sheet "Sensitivity" / "Scenario comparison") generates the figures. Keep one chart per slide. Talk to the curve, not the numbers — the numbers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the three-year projection chart here. The ROI Calculator (sheet "Sensitivity" / "Scenario comparison") generates the figures. Keep one chart per slide. Talk to the curve, not the numbers — the numbers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the sensitivity table chart here. The ROI Calculator (sheet "Sensitivity" / "Scenario comparison") generates the figures. Keep one chart per slide. Talk to the curve, not the numbers — the numbers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room you have thought about failure. Decision-makers who hear "what could go wrong" answered well are 2× more likely to approve.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closest case study to your audience. Case · Legal firm resonates if your audience matches the industry. Otherwise pick the relevant one from aiprosol.com/case-studies.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closest case study to your audience. Case · Real estate brand resonates if your audience matches the industry. Otherwise pick the relevant one from aiprosol.com/case-studies.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closest case study to your audience. Case · Manufacturing resonates if your audience matches the industry. Otherwise pick the relevant one from aiprosol.com/case-studies.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closest case study to your audience. Case · Financial services resonates if your audience matches the industry. Otherwise pick the relevant one from aiprosol.com/case-studies.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closest case study to your audience. Case · SaaS company resonates if your audience matches the industry. Otherwise pick the relevant one from aiprosol.com/case-studies.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90 has a hard deliverable: a measurable ROI report. No "we will get back to you with metrics later." Lock this expectation upfront.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Charter pricing is real. If your audience is decision-aware, mention it. If they need more nurturing, save it for a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question explicitly. Make the room answer them out loud. Decisions made in the room stick; decisions deferred 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very next step a 30-second decision: approve in principle. Don't ask for full sign-off in the meeting; ask for the next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a long pause after this slide. Don't fill silence. The room's discomfort with silence is your friend.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AUTOMATION ROI · STAGE 1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E5E7EB"/>
                </a:solidFill>
                <a:latin typeface="Space Grotesk"/>
              </a:rPr>
              <a:t>How {{Your Company}} reclaims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C084FC"/>
                </a:solidFill>
                <a:latin typeface="Space Grotesk"/>
              </a:rPr>
              <a:t>{{X}}+ hours per week with AI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CA3B5"/>
                </a:solidFill>
                <a:latin typeface="Inter"/>
              </a:rPr>
              <a:t>Prepared by {{Your Name}} · {{Date}}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B5"/>
                </a:solidFill>
                <a:latin typeface="Inter"/>
              </a:rPr>
              <a:t>Confidential — for {{Your Stakeholders}}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0" bIns="0"/>
          <a:lstStyle/>
          <a:p>
            <a:pPr algn="ctr"/>
            <a:r>
              <a:rPr sz="1100" b="1">
                <a:solidFill>
                  <a:srgbClr val="0A0613"/>
                </a:solidFill>
                <a:latin typeface="Space Grotesk"/>
              </a:rPr>
              <a:t>PRESENTED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pace Grotesk"/>
              </a:rPr>
              <a:t>THE SINGLE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E5E7EB"/>
                </a:solidFill>
                <a:latin typeface="Space Grotesk"/>
              </a:rPr>
              <a:t>We are paying £{{ANNUAL_MANUAL_COST}}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59E0B"/>
                </a:solidFill>
                <a:latin typeface="Space Grotesk"/>
              </a:rPr>
              <a:t>for work a junior engineer would refuse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CA3B5"/>
                </a:solidFill>
                <a:latin typeface="Inter"/>
              </a:rPr>
              <a:t>{{employees}} people × {{manual_hrs}} hrs/week × £{{hourly_cost}}/hr × 50 working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A3B5"/>
                </a:solidFill>
                <a:latin typeface="Inter"/>
              </a:rPr>
              <a:t>This is the cost of doing nothing. It compounds every quarter we delay.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WHERE IT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Inside that figure, in our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606040" cy="32004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200" b="1">
                <a:solidFill>
                  <a:srgbClr val="F59E0B"/>
                </a:solidFill>
                <a:latin typeface="Space Grotesk"/>
              </a:rPr>
              <a:t>£{{X1}}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Lost on lead-response delay
(slow first touch → 7× drop in contact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2606040" cy="32004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200" b="1">
                <a:solidFill>
                  <a:srgbClr val="F59E0B"/>
                </a:solidFill>
                <a:latin typeface="Space Grotesk"/>
              </a:rPr>
              <a:t>£{{X2}}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Manual data entry across systems
({{tasks}} hand-offs/wk)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2606040" cy="32004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200" b="1">
                <a:solidFill>
                  <a:srgbClr val="F59E0B"/>
                </a:solidFill>
                <a:latin typeface="Space Grotesk"/>
              </a:rPr>
              <a:t>£{{X3}}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Reporting + status compilation
(work that should be auto-generated)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2606040" cy="32004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200" b="1">
                <a:solidFill>
                  <a:srgbClr val="F59E0B"/>
                </a:solidFill>
                <a:latin typeface="Space Grotesk"/>
              </a:rPr>
              <a:t>£{{X4}}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Inbox triage + repeated answers
(FAQ-shape mail with no automation)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Source: {{your audit}} — verifiable on request. See Appendix C for methodology.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pace Grotesk"/>
              </a:rPr>
              <a:t>COMPOUNDING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Every quarter we delay, the bill grows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B5"/>
                </a:solidFill>
                <a:latin typeface="Inter"/>
              </a:rPr>
              <a:t>If unchanged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Year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651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6517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Space Grotesk"/>
              </a:rPr>
              <a:t>£{{cost_y1}}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7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Year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474720"/>
            <a:ext cx="3200400" cy="411480"/>
          </a:xfrm>
          <a:prstGeom prst="roundRect">
            <a:avLst>
              <a:gd name="adj" fmla="val 40000"/>
            </a:avLst>
          </a:prstGeom>
          <a:solidFill>
            <a:srgbClr val="EF8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474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Space Grotesk"/>
              </a:rPr>
              <a:t>£{{cost_y2}}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Year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297679"/>
            <a:ext cx="4572000" cy="41148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429767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Space Grotesk"/>
              </a:rPr>
              <a:t>£{{cost_y3}}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B5"/>
                </a:solidFill>
                <a:latin typeface="Inter"/>
              </a:rPr>
              <a:t>Manual processes don't age — they accumulate. Headcount grows linearly; manual-work overhead grows quadratically as systems sprawl.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5E7EB"/>
                </a:solidFill>
                <a:latin typeface="Space Grotesk"/>
              </a:rPr>
              <a:t>Automate the {{top_3_processes}} this quarter.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A0613"/>
                </a:solidFill>
                <a:latin typeface="Space Grotes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9260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{{Process 1}}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383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{{est. hrs/wk reclaimed}}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063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084FC"/>
                </a:solidFill>
                <a:latin typeface="Space Grotesk"/>
              </a:rPr>
              <a:t>{{est. £/yr saved}}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A0613"/>
                </a:solidFill>
                <a:latin typeface="Space Grotes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9319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{{Process 2}}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389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{{est. hrs/wk reclaimed}}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6908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084FC"/>
                </a:solidFill>
                <a:latin typeface="Space Grotesk"/>
              </a:rPr>
              <a:t>{{est. £/yr saved}}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A0613"/>
                </a:solidFill>
                <a:latin typeface="Space Grotes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937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{{Process 3}}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394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Inter"/>
              </a:rPr>
              <a:t>{{est. hrs/wk reclaimed}}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07492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084FC"/>
                </a:solidFill>
                <a:latin typeface="Space Grotesk"/>
              </a:rPr>
              <a:t>{{est. £/yr saved}}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ARCHITECTURE,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It is just three boxes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13101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l"/>
            <a:r>
              <a:rPr sz="1000" b="1">
                <a:solidFill>
                  <a:srgbClr val="C084FC"/>
                </a:solidFill>
                <a:latin typeface="Space Grotesk"/>
              </a:rPr>
              <a:t>TRIGGER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E5E7EB"/>
                </a:solidFill>
                <a:latin typeface="Space Grotesk"/>
              </a:rPr>
              <a:t>Something happens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9CA3B5"/>
                </a:solidFill>
                <a:latin typeface="Inter"/>
              </a:rPr>
              <a:t>Email lands · form submitted
record changes · time elapses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2608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13101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l"/>
            <a:r>
              <a:rPr sz="1000" b="1">
                <a:solidFill>
                  <a:srgbClr val="C084FC"/>
                </a:solidFill>
                <a:latin typeface="Space Grotesk"/>
              </a:rPr>
              <a:t>ARORA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E5E7EB"/>
                </a:solidFill>
                <a:latin typeface="Space Grotesk"/>
              </a:rPr>
              <a:t>AI decides what to do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9CA3B5"/>
                </a:solidFill>
                <a:latin typeface="Inter"/>
              </a:rPr>
              <a:t>Reads, classifies, drafts
scores, decides, asks if unsure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92608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13101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l"/>
            <a:r>
              <a:rPr sz="1000" b="1">
                <a:solidFill>
                  <a:srgbClr val="C084FC"/>
                </a:solidFill>
                <a:latin typeface="Space Grotesk"/>
              </a:rPr>
              <a:t>EFFECT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E5E7EB"/>
                </a:solidFill>
                <a:latin typeface="Space Grotesk"/>
              </a:rPr>
              <a:t>Things happen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9CA3B5"/>
                </a:solidFill>
                <a:latin typeface="Inter"/>
              </a:rPr>
              <a:t>CRM updated · email sent
slack pinged · invoice raised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3657600"/>
            <a:ext cx="1097280" cy="4572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863840" y="3657600"/>
            <a:ext cx="1097280" cy="4572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9CA3B5"/>
                </a:solidFill>
                <a:latin typeface="Inter"/>
              </a:rPr>
              <a:t>No black boxes. No magic. Three boxes, well-engineered, deployed once, audited continuously.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Space Grotesk"/>
              </a:rPr>
              <a:t>Three reasons that did not exist 18 months 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084FC"/>
                </a:solidFill>
                <a:latin typeface="Space Grotesk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Models are good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B5"/>
                </a:solidFill>
                <a:latin typeface="Inter"/>
              </a:rPr>
              <a:t>GPT-4 / Claude Sonnet / Gemini 2.0 produce reliable structured output for the exact tasks we want to automate. This was not true in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084FC"/>
                </a:solidFill>
                <a:latin typeface="Space Grotesk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Tooling is mature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B5"/>
                </a:solidFill>
                <a:latin typeface="Inter"/>
              </a:rPr>
              <a:t>Zapier / Make / Vercel / Stripe / Twilio / Resend are stable, integrated, observable. The "plumbing" is not where projects fail anymore.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084FC"/>
                </a:solidFill>
                <a:latin typeface="Space Grotesk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Inter"/>
              </a:rPr>
              <a:t>The competitive cost of waiting is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B5"/>
                </a:solidFill>
                <a:latin typeface="Inter"/>
              </a:rPr>
              <a:t>Companies running automation are operating at 60-80% of their old headcount. We are not racing them on hiring; we are racing on operating leverage.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ANTICIPATED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Space Grotesk"/>
              </a:rPr>
              <a:t>And how I would respond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59E0B"/>
                </a:solidFill>
                <a:latin typeface="Inter"/>
              </a:rPr>
              <a:t>"We tried Zapier, it broke"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031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Inter"/>
              </a:rPr>
              <a:t>Zapier alone is the wrong layer. The right pattern is Zapier/Make for app-to-app + an LLM middleware layer + observability + retry. We are not proposing Zapier-as-a-product.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59E0B"/>
                </a:solidFill>
                <a:latin typeface="Inter"/>
              </a:rPr>
              <a:t>"What about the people whose jobs this replaces?"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154679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Inter"/>
              </a:rPr>
              <a:t>Honest answer: no jobs are replaced in years 1-2. We give those people 35+ hrs/wk back to do work that compounds. Year 3 we reassess. We have the headcount conversation upfront.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59E0B"/>
                </a:solidFill>
                <a:latin typeface="Inter"/>
              </a:rPr>
              <a:t>"Our data is too sensitive"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20624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Inter"/>
              </a:rPr>
              <a:t>Then we run on Claude/Mistral with EU residency, no third-party logging, and a custom DPA. We have a sample one to share. Solved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59E0B"/>
                </a:solidFill>
                <a:latin typeface="Inter"/>
              </a:rPr>
              <a:t>"What if AI gives a wrong answer?"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25780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Inter"/>
              </a:rPr>
              <a:t>Every workflow has a confidence threshold. Above it: auto. Below it: human-review queue. The bot does not silently make mistakes — it flags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THE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pace Grotesk"/>
              </a:rPr>
              <a:t>Three options, all with money-back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657600" cy="310896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/>
          <a:lstStyle/>
          <a:p>
            <a:pPr algn="l"/>
            <a:r>
              <a:rPr sz="1800" b="1">
                <a:solidFill>
                  <a:srgbClr val="E5E7EB"/>
                </a:solidFill>
                <a:latin typeface="Space Grotesk"/>
              </a:rPr>
              <a:t>Self-serve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C084FC"/>
                </a:solidFill>
                <a:latin typeface="Space Grotesk"/>
              </a:rPr>
              <a:t>£17–£997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CA3B5"/>
                </a:solidFill>
                <a:latin typeface="Inter"/>
              </a:rPr>
              <a:t>Start with a £37 audit + £197 toolkit
implement in a weekend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560320"/>
            <a:ext cx="3657600" cy="3108960"/>
          </a:xfrm>
          <a:prstGeom prst="roundRect">
            <a:avLst>
              <a:gd name="adj" fmla="val 7000"/>
            </a:avLst>
          </a:prstGeom>
          <a:solidFill>
            <a:srgbClr val="8B5CF6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/>
          <a:lstStyle/>
          <a:p>
            <a:pPr algn="l"/>
            <a:r>
              <a:rPr sz="1800" b="1">
                <a:solidFill>
                  <a:srgbClr val="0A0613"/>
                </a:solidFill>
                <a:latin typeface="Space Grotesk"/>
              </a:rPr>
              <a:t>Starter plan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0A0613"/>
                </a:solidFill>
                <a:latin typeface="Space Grotesk"/>
              </a:rPr>
              <a:t>£997 / mo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403060"/>
                </a:solidFill>
                <a:latin typeface="Inter"/>
              </a:rPr>
              <a:t>Up to 5 automations live
Managed · 90-day reclaim guarantee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3317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0613"/>
                </a:solidFill>
                <a:latin typeface="Space Grotesk"/>
              </a:rPr>
              <a:t>OUR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560320"/>
            <a:ext cx="3657600" cy="310896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/>
          <a:lstStyle/>
          <a:p>
            <a:pPr algn="l"/>
            <a:r>
              <a:rPr sz="1800" b="1">
                <a:solidFill>
                  <a:srgbClr val="E5E7EB"/>
                </a:solidFill>
                <a:latin typeface="Space Grotesk"/>
              </a:rPr>
              <a:t>Growth plan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C084FC"/>
                </a:solidFill>
                <a:latin typeface="Space Grotesk"/>
              </a:rPr>
              <a:t>£2,997 / mo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CA3B5"/>
                </a:solidFill>
                <a:latin typeface="Inter"/>
              </a:rPr>
              <a:t>Up to 20 automations live
Dedicated AE · weekly reviews
90-day guarantee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90-day reclaim guarantee on every managed plan: 35+ hrs/wk reclaimed within 90 days, or they work for free until you do. Terms: aiprosol.com/terms#guarantee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FINANCIAL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Year 1 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A3B5"/>
                </a:solidFill>
                <a:latin typeface="Inter"/>
              </a:rPr>
              <a:t>Plan cost vs reclaimed savings, month by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3474720"/>
          </a:xfrm>
          <a:prstGeom prst="roundRect">
            <a:avLst>
              <a:gd name="adj" fmla="val 4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l"/>
            <a:r>
              <a:rPr sz="1300" i="1">
                <a:solidFill>
                  <a:srgbClr val="9CA3B5"/>
                </a:solidFill>
                <a:latin typeface="Inter"/>
              </a:rPr>
              <a:t>CHART: paste an image from the ROI Calculator (.xlsx, comes bundled).
Or drop the relevant table from your accounting export here.
Keep one chart per slide — readable from the back of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FINANCIAL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Break-even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A3B5"/>
                </a:solidFill>
                <a:latin typeface="Inter"/>
              </a:rPr>
              <a:t>When the plan pays for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3474720"/>
          </a:xfrm>
          <a:prstGeom prst="roundRect">
            <a:avLst>
              <a:gd name="adj" fmla="val 4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l"/>
            <a:r>
              <a:rPr sz="1300" i="1">
                <a:solidFill>
                  <a:srgbClr val="9CA3B5"/>
                </a:solidFill>
                <a:latin typeface="Inter"/>
              </a:rPr>
              <a:t>CHART: paste an image from the ROI Calculator (.xlsx, comes bundled).
Or drop the relevant table from your accounting export here.
Keep one chart per slide — readable from the back of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FINANCIAL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Three-year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A3B5"/>
                </a:solidFill>
                <a:latin typeface="Inter"/>
              </a:rPr>
              <a:t>Compounding savings vs status quo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3474720"/>
          </a:xfrm>
          <a:prstGeom prst="roundRect">
            <a:avLst>
              <a:gd name="adj" fmla="val 4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l"/>
            <a:r>
              <a:rPr sz="1300" i="1">
                <a:solidFill>
                  <a:srgbClr val="9CA3B5"/>
                </a:solidFill>
                <a:latin typeface="Inter"/>
              </a:rPr>
              <a:t>CHART: paste an image from the ROI Calculator (.xlsx, comes bundled).
Or drop the relevant table from your accounting export here.
Keep one chart per slide — readable from the back of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FINANCIAL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Sensitivity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A3B5"/>
                </a:solidFill>
                <a:latin typeface="Inter"/>
              </a:rPr>
              <a:t>What if hourly cost or team size differs ±20%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3474720"/>
          </a:xfrm>
          <a:prstGeom prst="roundRect">
            <a:avLst>
              <a:gd name="adj" fmla="val 4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l"/>
            <a:r>
              <a:rPr sz="1300" i="1">
                <a:solidFill>
                  <a:srgbClr val="9CA3B5"/>
                </a:solidFill>
                <a:latin typeface="Inter"/>
              </a:rPr>
              <a:t>CHART: paste an image from the ROI Calculator (.xlsx, comes bundled).
Or drop the relevant table from your accounting export here.
Keep one chart per slide — readable from the back of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Space Grotesk"/>
              </a:rPr>
              <a:t>What could go wrong, and what we do about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Inter"/>
              </a:rPr>
              <a:t>Vendor outage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0312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Architecture is multi-vendor with fallback paths. No single-point dependency.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Inter"/>
              </a:rPr>
              <a:t>Model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88036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Output schema is enforced; bad output is caught upstream of any human-facing send.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Inter"/>
              </a:rPr>
              <a:t>Scope creep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576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Each automation has a written success metric in advance. We do not bolt new things on without re-baselining.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Inter"/>
              </a:rPr>
              <a:t>User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43484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90-day implementation plan includes change-management. People are part of the rollout, not a side-effect.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79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Inter"/>
              </a:rPr>
              <a:t>Data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21207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EU residency + custom DPA + no third-party logging on sensitive flows. We treat this seriously.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pace Grotesk"/>
              </a:rPr>
              <a:t>Case · Legal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084FC"/>
                </a:solidFill>
                <a:latin typeface="Space Grotesk"/>
              </a:rPr>
              <a:t>78% drop in contract-review hours · partner time reclaimed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{{metric_1}}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{{label_1}}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{{metric_2}}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{{label_2}}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{{metric_3}}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{{label_3}}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Source: aiprosol.com/case-studies — read the long-form version with full architecture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pace Grotesk"/>
              </a:rPr>
              <a:t>Case · Real estate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084FC"/>
                </a:solidFill>
                <a:latin typeface="Space Grotesk"/>
              </a:rPr>
              <a:t>6 hr → 3 min lead-response · +28%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{{metric_1}}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{{label_1}}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{{metric_2}}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{{label_2}}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{{metric_3}}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{{label_3}}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Source: aiprosol.com/case-studies — read the long-form version with full architecture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pace Grotesk"/>
              </a:rPr>
              <a:t>Case ·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084FC"/>
                </a:solidFill>
                <a:latin typeface="Space Grotesk"/>
              </a:rPr>
              <a:t>Defect rate 4.1% → 0.6% · vision +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{{metric_1}}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{{label_1}}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{{metric_2}}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{{label_2}}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{{metric_3}}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{{label_3}}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Source: aiprosol.com/case-studies — read the long-form version with full architecture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pace Grotesk"/>
              </a:rPr>
              <a:t>Case · 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084FC"/>
                </a:solidFill>
                <a:latin typeface="Space Grotesk"/>
              </a:rPr>
              <a:t>Document processing at 99.4% accuracy · 32 FTE-hours/wk reclaimed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{{metric_1}}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{{label_1}}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{{metric_2}}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{{label_2}}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{{metric_3}}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{{label_3}}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Source: aiprosol.com/case-studies — read the long-form version with full architecture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E7EB"/>
                </a:solidFill>
                <a:latin typeface="Space Grotesk"/>
              </a:rPr>
              <a:t>Case · SaaS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084FC"/>
                </a:solidFill>
                <a:latin typeface="Space Grotesk"/>
              </a:rPr>
              <a:t>Lead-gen playbook paid back week 1 · upgraded to Growth in month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{{metric_1}}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{{label_1}}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{{metric_2}}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{{label_2}}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08960"/>
            <a:ext cx="3474720" cy="2286000"/>
          </a:xfrm>
          <a:prstGeom prst="roundRect">
            <a:avLst>
              <a:gd name="adj" fmla="val 7000"/>
            </a:avLst>
          </a:prstGeom>
          <a:solidFill>
            <a:srgbClr val="13101F"/>
          </a:solidFill>
          <a:ln w="9525">
            <a:solidFill>
              <a:srgbClr val="2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pace Grotesk"/>
              </a:rPr>
              <a:t>{{metric_3}}</a:t>
            </a:r>
          </a:p>
          <a:p>
            <a:pPr algn="l"/>
            <a:r>
              <a:rPr sz="1100">
                <a:solidFill>
                  <a:srgbClr val="9CA3B5"/>
                </a:solidFill>
                <a:latin typeface="Inter"/>
              </a:rPr>
              <a:t>{{label_3}}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B5"/>
                </a:solidFill>
                <a:latin typeface="Inter"/>
              </a:rPr>
              <a:t>Source: aiprosol.com/case-studies — read the long-form version with full architecture detail.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Space Grotesk"/>
              </a:rPr>
              <a:t>The first 90 days, week by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6459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pace Grotesk"/>
              </a:rPr>
              <a:t>Week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Inter"/>
              </a:rPr>
              <a:t>Audit +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B5"/>
                </a:solidFill>
                <a:latin typeface="Inter"/>
              </a:rPr>
              <a:t>Walk every system, score against the 7-section Process Audit. Output: ranked list of automation candidates with hours/£ 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6459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Space Grotesk"/>
              </a:rPr>
              <a:t>Week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Inter"/>
              </a:rPr>
              <a:t>Design +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B5"/>
                </a:solidFill>
                <a:latin typeface="Inter"/>
              </a:rPr>
              <a:t>Architecture doc per top-3 candidates. Stakeholder sign-off on success metrics + SLA + escalation paths.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59"/>
            <a:ext cx="164592" cy="6400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Week 5-8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Inter"/>
              </a:rPr>
              <a:t>Build +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B5"/>
                </a:solidFill>
                <a:latin typeface="Inter"/>
              </a:rPr>
              <a:t>Working pipelines in production with shadow-mode parallel run for 2 weeks. Daily review cadence with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59"/>
            <a:ext cx="16459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pace Grotesk"/>
              </a:rPr>
              <a:t>Week 9-12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463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Inter"/>
              </a:rPr>
              <a:t>Cut over + 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463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A3B5"/>
                </a:solidFill>
                <a:latin typeface="Inter"/>
              </a:rPr>
              <a:t>Full cut-over once shadow-mode confidence ≥ 95%. Daily metrics dashboard. Final ROI report at day 90.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WHY AIPROSOL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The first AI-led automation consultancy.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Built by AI, run by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7432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11 C-suite functions. 10 of them AI agents coordinated by Arora (our AI CEO). One human chairman. Every automation we ship is one we already run inside ourselves.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Numbers, not hype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Every claim ships with a number, a source, and a methodology link at /how-we-measure. Read it before you 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90-day reclaim guarantee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4805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On every managed plan: 35+ hrs/wk reclaimed within 90 days, or we work for free until you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Charter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3492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Inter"/>
              </a:rPr>
              <a:t>First 10 engagements get 30% off any managed plan for life. We need the early data; you get a permanent advantage.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Space Grotesk"/>
              </a:rPr>
              <a:t>Should we do this? Here is how to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Inter"/>
              </a:rPr>
              <a:t>1. Is the cost of the status quo &gt; the cost of the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pace Grotesk"/>
              </a:rPr>
              <a:t>YES — quantified above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Inter"/>
              </a:rPr>
              <a:t>2. Is the technical risk acceptable?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8346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pace Grotesk"/>
              </a:rPr>
              <a:t>YES — multi-vendor architecture + 90-day guarantee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Inter"/>
              </a:rPr>
              <a:t>3. Do we have the change-management capacity?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566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pace Grotesk"/>
              </a:rPr>
              <a:t>YES — implementation plan integrates with existing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Inter"/>
              </a:rPr>
              <a:t>4. Is the opportunity-cost of waiting acceptable?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297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pace Grotesk"/>
              </a:rPr>
              <a:t>NO — every quarter delayed costs £{{quarterly_cost}}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Inter"/>
              </a:rPr>
              <a:t>5. Are we the right buyers?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pace Grotesk"/>
              </a:rPr>
              <a:t>TBD — discuss next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What we do in the next 7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Approve the proposal in principle (yes / no / not yet)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Day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926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 scoping call (45 min) — confirm top-3 automations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61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Statement of work signed; payment processed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Day 4-7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062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Audit interviews scheduled with department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Day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463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Audit findings + ranked candidates report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  <a:latin typeface="Space Grotesk"/>
              </a:rPr>
              <a:t>Day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48640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Implementation begins on automation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E5E7EB"/>
                </a:solidFill>
                <a:latin typeface="Space Grotesk"/>
              </a:rPr>
              <a:t>Reclaim the time. Compound the leverage.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F59E0B"/>
                </a:solidFill>
                <a:latin typeface="Space Grotesk"/>
              </a:rPr>
              <a:t>Or do nothing — and pay £{{annual_cost}} again next year.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502920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0" bIns="0"/>
          <a:lstStyle/>
          <a:p>
            <a:pPr algn="ctr"/>
            <a:r>
              <a:rPr sz="1100" b="1">
                <a:solidFill>
                  <a:srgbClr val="0A0613"/>
                </a:solidFill>
                <a:latin typeface="Space Grotesk"/>
              </a:rPr>
              <a:t>YOUR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Space Grotesk"/>
              </a:rPr>
              <a:t>APPENDIX ·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Space Grotesk"/>
              </a:rPr>
              <a:t>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  <a:latin typeface="Inter"/>
              </a:rPr>
              <a:t>Aiprosol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hello@aiprosol.com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  <a:latin typeface="Inter"/>
              </a:rP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aiprosol.com/how-we-measure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aiprosol.com/results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  <a:latin typeface="Inter"/>
              </a:rPr>
              <a:t>Free ROI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aiprosol.com/roi-audit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aiprosol.com/roi-simulator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  <a:latin typeface="Inter"/>
              </a:rPr>
              <a:t>Self-serve toolkits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63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Inter"/>
              </a:rPr>
              <a:t>aiprosol.com/digital-products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CA3B5"/>
                </a:solidFill>
                <a:latin typeface="Inter"/>
              </a:rPr>
              <a:t>This deck is yours — modify, brand, share. Original template © 2026 Aiprosol Ltd. License: see file metadata.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B5"/>
                </a:solidFill>
                <a:latin typeface="Inter"/>
              </a:rPr>
              <a:t>Aiprosol — Automation ROI for {{Your Company}}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B5"/>
                </a:solidFill>
                <a:latin typeface="Inter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